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Consolas"/>
              </a:rPr>
              <a:t>COMPUTER GRAPHICS TERM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88920"/>
            <a:ext cx="121916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E28A12"/>
                </a:solidFill>
                <a:latin typeface="Malgun Gothic"/>
              </a:rPr>
              <a:t>🪐 태양계 관측 시뮬레이터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77639"/>
            <a:ext cx="8534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6B728E"/>
                </a:solidFill>
                <a:latin typeface="Malgun Gothic"/>
              </a:rPr>
              <a:t>WebGL2 기반 실시간 3D 태양계 비행 관측 시뮬레이터</a:t>
            </a:r>
          </a:p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6B728E"/>
                </a:solidFill>
                <a:latin typeface="Malgun Gothic"/>
              </a:rPr>
              <a:t>절차적 지오메트리 · 커스텀 셰이더 · 프레임버퍼 피킹으로 만든 1인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E"/>
                </a:solidFill>
                <a:latin typeface="Consolas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Consolas"/>
              </a:rPr>
              <a:t>①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28A12"/>
                </a:solidFill>
                <a:latin typeface="Malgun Gothic"/>
              </a:rPr>
              <a:t>주제 — 태양계 관측 시뮬레이터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23273A"/>
                </a:solidFill>
                <a:latin typeface="Malgun Gothic"/>
              </a:rPr>
              <a:t>우주선 시점의 자유 비행 카메라로 태양계 안을 직접 날아다니며, 태양과 8개 행성을 가까이서 관찰하고 정보를 확인하는 실시간 3D WebGL2 애플리케이션입니다.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23273A"/>
                </a:solidFill>
                <a:latin typeface="Malgun Gothic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23273A"/>
                </a:solidFill>
                <a:latin typeface="Malgun Gothic"/>
              </a:rPr>
              <a:t>시간 배속 조절 · 초점 추적 · 실제/압축 비율 전환 등 '관측'이라는 행위 자체를 능동적인 상호작용으로 설계했습니다.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1197864" cy="502920"/>
          </a:xfrm>
          <a:prstGeom prst="roundRect">
            <a:avLst>
              <a:gd name="adj" fmla="val 50000"/>
            </a:avLst>
          </a:prstGeom>
          <a:solidFill>
            <a:srgbClr val="E9F1FD"/>
          </a:solidFill>
          <a:ln w="12700">
            <a:solidFill>
              <a:srgbClr val="2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2F6FE0"/>
                </a:solidFill>
              </a:rPr>
              <a:t>WebGL2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66544" y="4114800"/>
            <a:ext cx="1783080" cy="502920"/>
          </a:xfrm>
          <a:prstGeom prst="roundRect">
            <a:avLst>
              <a:gd name="adj" fmla="val 50000"/>
            </a:avLst>
          </a:prstGeom>
          <a:solidFill>
            <a:srgbClr val="E9F1FD"/>
          </a:solidFill>
          <a:ln w="12700">
            <a:solidFill>
              <a:srgbClr val="2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2F6FE0"/>
                </a:solidFill>
              </a:rPr>
              <a:t>실시간 3D 렌더링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78224" y="4114800"/>
            <a:ext cx="1197864" cy="502920"/>
          </a:xfrm>
          <a:prstGeom prst="roundRect">
            <a:avLst>
              <a:gd name="adj" fmla="val 50000"/>
            </a:avLst>
          </a:prstGeom>
          <a:solidFill>
            <a:srgbClr val="E9F1FD"/>
          </a:solidFill>
          <a:ln w="12700">
            <a:solidFill>
              <a:srgbClr val="2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2F6FE0"/>
                </a:solidFill>
              </a:rPr>
              <a:t>절차적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4688" y="411480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E9F1FD"/>
          </a:solidFill>
          <a:ln w="12700">
            <a:solidFill>
              <a:srgbClr val="2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2F6FE0"/>
                </a:solidFill>
              </a:rPr>
              <a:t>자유비행 카메라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114800"/>
            <a:ext cx="1051560" cy="502920"/>
          </a:xfrm>
          <a:prstGeom prst="roundRect">
            <a:avLst>
              <a:gd name="adj" fmla="val 50000"/>
            </a:avLst>
          </a:prstGeom>
          <a:solidFill>
            <a:srgbClr val="E9F1FD"/>
          </a:solidFill>
          <a:ln w="12700">
            <a:solidFill>
              <a:srgbClr val="2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2F6FE0"/>
                </a:solidFill>
              </a:rPr>
              <a:t>1인 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E"/>
                </a:solidFill>
                <a:latin typeface="Consolas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Consolas"/>
              </a:rPr>
              <a:t>② BACKGROUND &amp;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28A12"/>
                </a:solidFill>
                <a:latin typeface="Malgun Gothic"/>
              </a:rPr>
              <a:t>내용 — 제작 동기와 스토리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48371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Malgun Gothic"/>
              </a:rPr>
              <a:t>처음 계획: "인터랙티브 3D 갤러리"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483717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6B728E"/>
                </a:solidFill>
                <a:latin typeface="Malgun Gothic"/>
              </a:rPr>
              <a:t>OBJ 모델 로딩과 피킹 기능을 살려 전시관 갤러리를 기획·완성했지만, 완성 후 보니 흔한 소재라 "식상하다"는 느낌이 강하게 들었습니다.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8288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011680"/>
            <a:ext cx="48371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Malgun Gothic"/>
              </a:rPr>
              <a:t>방향 전환 — 태양계로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423160"/>
            <a:ext cx="483717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6B728E"/>
                </a:solidFill>
                <a:latin typeface="Malgun Gothic"/>
              </a:rPr>
              <a:t>갤러리는 보존해 두고, 같은 핵심 기술(변환 행렬·조명·텍스처·피킹)을 누구에게나 친숙하면서 시각적으로 화려한 태양계 소재에 새롭게 적용했습니다.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1090879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343400"/>
            <a:ext cx="10396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Malgun Gothic"/>
              </a:rPr>
              <a:t>강의 자료에 없던 것을 직접 채워나간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754880"/>
            <a:ext cx="10396728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6B728E"/>
                </a:solidFill>
                <a:latin typeface="Malgun Gothic"/>
              </a:rPr>
              <a:t>구 절차적 생성, 행성 텍스처, 궤도 운동 같은 요소는 강의 자료에 없었지만, 오히려 그것이 "배운 개념을 새 문제에 적용해보는" 도전이 되었고, 결국 끝까지 완성해낸 결과물입니다.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E"/>
                </a:solidFill>
                <a:latin typeface="Consolas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Consolas"/>
              </a:rPr>
              <a:t>③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28A12"/>
                </a:solidFill>
                <a:latin typeface="Malgun Gothic"/>
              </a:rPr>
              <a:t>주요 구현 기술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48371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Malgun Gothic"/>
              </a:rPr>
              <a:t>1) 절차적 지오메트리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483717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6B728E"/>
                </a:solidFill>
                <a:latin typeface="Malgun Gothic"/>
              </a:rPr>
              <a:t>외부 3D 모델 없이 generateSphere(위도·경도 분할), generateRing, generateCircleOutline, generateStarField로 행성·고리·궤도선·별을 모두 직접 생성했습니다.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8288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011680"/>
            <a:ext cx="48371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Malgun Gothic"/>
              </a:rPr>
              <a:t>2) 셰이더 3종 — 2개를 직접 변형/신규 작성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423160"/>
            <a:ext cx="483717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6B728E"/>
                </a:solidFill>
                <a:latin typeface="Malgun Gothic"/>
              </a:rPr>
              <a:t>행성 셰이더: 평행광 모델 → 점광원 모델로 변형 (lightDir = normalize(sunPos − worldPos))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6B728E"/>
                </a:solidFill>
                <a:latin typeface="Malgun Gothic"/>
              </a:rPr>
              <a:t>태양 셰이더(신규): emissive + 노이즈 + 펄싱 코로나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6B728E"/>
                </a:solidFill>
                <a:latin typeface="Malgun Gothic"/>
              </a:rPr>
              <a:t>uniform_color: 피킹·별·궤도선·하이라이트에 다용도 재사용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343400"/>
            <a:ext cx="48371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Malgun Gothic"/>
              </a:rPr>
              <a:t>3) 프레임버퍼 색상 피킹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754880"/>
            <a:ext cx="483717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6B728E"/>
                </a:solidFill>
                <a:latin typeface="Malgun Gothic"/>
              </a:rPr>
              <a:t>클릭 시 별도 프레임버퍼에 각 천체를 고유 ID 색으로 렌더링한 뒤 픽셀을 읽어 선택된 천체를 정확히 판별합니다.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16052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4343400"/>
            <a:ext cx="48371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Malgun Gothic"/>
              </a:rPr>
              <a:t>4) 1인칭 자유비행 카메라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4754880"/>
            <a:ext cx="483717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6B728E"/>
                </a:solidFill>
                <a:latin typeface="Malgun Gothic"/>
              </a:rPr>
              <a:t>yaw/pitch 기반 드래그 회전, 외적으로 구한 right 벡터로 WASD 스트레이프 이동, 행성은 translate·rotateY·scale 계층적 변환으로 배치했습니다.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E"/>
                </a:solidFill>
                <a:latin typeface="Consolas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Consolas"/>
              </a:rPr>
              <a:t>④ WHAT MAKES IT STAND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28A12"/>
                </a:solidFill>
                <a:latin typeface="Malgun Gothic"/>
              </a:rPr>
              <a:t>차별성 — 특징 및 자랑할 만한 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65576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2953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Malgun Gothic"/>
              </a:rPr>
              <a:t>🔭 초점 추적 카메라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29535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B728E"/>
                </a:solidFill>
                <a:latin typeface="Malgun Gothic"/>
              </a:rPr>
              <a:t>행성 클릭 시 카메라가 부드럽게 자동으로 따라가며 비춥니다. 드래그하면 즉시 추적이 해제됩니다.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65576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2011680"/>
            <a:ext cx="2953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Malgun Gothic"/>
              </a:rPr>
              <a:t>📏 실제/압축 비율 전환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423160"/>
            <a:ext cx="29535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B728E"/>
                </a:solidFill>
                <a:latin typeface="Malgun Gothic"/>
              </a:rPr>
              <a:t>R 키로 '관측하기 좋은 비율'과 '실제 천문학적 비율'을 즉시 비교할 수 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828800"/>
            <a:ext cx="3465576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5" y="2011680"/>
            <a:ext cx="2953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Malgun Gothic"/>
              </a:rPr>
              <a:t>⏯ 시간 배속 / 일시정지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5" y="2423160"/>
            <a:ext cx="29535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B728E"/>
                </a:solidFill>
                <a:latin typeface="Malgun Gothic"/>
              </a:rPr>
              <a:t>+/− 로 0.25~8배속 조절, Space로 일시정지 — 배속을 기억했다 복원합니다.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3465576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43400"/>
            <a:ext cx="2953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Malgun Gothic"/>
              </a:rPr>
              <a:t>🎯 정보 패널 + 하이라이트 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9535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B728E"/>
                </a:solidFill>
                <a:latin typeface="Malgun Gothic"/>
              </a:rPr>
              <a:t>천체를 클릭하면 설명 패널과 펄싱 하이라이트 링이 나타나 무엇을 보고 있는지 직관적으로 알 수 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4160520"/>
            <a:ext cx="3465576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4343400"/>
            <a:ext cx="2953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Malgun Gothic"/>
              </a:rPr>
              <a:t>🖼 메인화면 / 조작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4754880"/>
            <a:ext cx="29535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B728E"/>
                </a:solidFill>
                <a:latin typeface="Malgun Gothic"/>
              </a:rPr>
              <a:t>타이틀 화면에서 '시작'·'조작 방법'을 선택하며, 상태 머신으로 화면 전환을 깔끔히 분리했습니다.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4160520"/>
            <a:ext cx="3465576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5" y="4343400"/>
            <a:ext cx="2953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Malgun Gothic"/>
              </a:rPr>
              <a:t>🌌 외부 모델 없이 절차적 완성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5" y="4754880"/>
            <a:ext cx="29535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B728E"/>
                </a:solidFill>
                <a:latin typeface="Malgun Gothic"/>
              </a:rPr>
              <a:t>행성·고리·궤도선·별 배경까지 모든 지오메트리를 코드로 직접 생성한 점이 핵심 자부심입니다.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E"/>
                </a:solidFill>
                <a:latin typeface="Consolas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Consolas"/>
              </a:rPr>
              <a:t>⑤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28A12"/>
                </a:solidFill>
                <a:latin typeface="Malgun Gothic"/>
              </a:rPr>
              <a:t>사용자 인터페이스 — 조작법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492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48371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Malgun Gothic"/>
              </a:rPr>
              <a:t>화면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4837176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6B728E"/>
                </a:solidFill>
                <a:latin typeface="Malgun Gothic"/>
              </a:rPr>
              <a:t>실행 → 타이틀 화면('시작'/'조작 방법') → '시작'으로 바로 진입, '조작 방법'으로 단축키 안내 화면 이동.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6B728E"/>
                </a:solidFill>
                <a:latin typeface="Malgun Gothic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6B728E"/>
                </a:solidFill>
                <a:latin typeface="Malgun Gothic"/>
              </a:rPr>
              <a:t>시뮬레이션 중에도 화면 좌상단에 핵심 단축키가 항상 표시되어 언제든 조작법을 다시 확인할 수 있습니다.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6B728E"/>
                </a:solidFill>
                <a:latin typeface="Malgun Gothic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6B728E"/>
                </a:solidFill>
                <a:latin typeface="Malgun Gothic"/>
              </a:rPr>
              <a:t>타이틀/도움말 화면에서는 키보드·클릭 입력이 시뮬레이션에 영향을 주지 않도록 상태 머신으로 깔끔하게 분리했습니다.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828800"/>
            <a:ext cx="53492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0116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Malgun Gothic"/>
              </a:rPr>
              <a:t>조작법 한눈에 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2542032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FBF1DD"/>
          </a:solidFill>
          <a:ln w="9525">
            <a:solidFill>
              <a:srgbClr val="E2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E28A12"/>
                </a:solidFill>
                <a:latin typeface="Consolas"/>
              </a:rPr>
              <a:t>W A S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259689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E"/>
                </a:solidFill>
                <a:latin typeface="Malgun Gothic"/>
              </a:rPr>
              <a:t>이동 (전후좌우)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3044952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FBF1DD"/>
          </a:solidFill>
          <a:ln w="9525">
            <a:solidFill>
              <a:srgbClr val="E2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E28A12"/>
                </a:solidFill>
                <a:latin typeface="Consolas"/>
              </a:rPr>
              <a:t>드래그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309981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E"/>
                </a:solidFill>
                <a:latin typeface="Malgun Gothic"/>
              </a:rPr>
              <a:t>시점 회전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5664" y="3547872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FBF1DD"/>
          </a:solidFill>
          <a:ln w="9525">
            <a:solidFill>
              <a:srgbClr val="E2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E28A12"/>
                </a:solidFill>
                <a:latin typeface="Consolas"/>
              </a:rPr>
              <a:t>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360273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E"/>
                </a:solidFill>
                <a:latin typeface="Malgun Gothic"/>
              </a:rPr>
              <a:t>확대 / 축소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55664" y="4050792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FBF1DD"/>
          </a:solidFill>
          <a:ln w="9525">
            <a:solidFill>
              <a:srgbClr val="E2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E28A12"/>
                </a:solidFill>
                <a:latin typeface="Consolas"/>
              </a:rPr>
              <a:t>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410565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E"/>
                </a:solidFill>
                <a:latin typeface="Malgun Gothic"/>
              </a:rPr>
              <a:t>천체 선택 → 정보 패널 + 자동 추적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55664" y="4553712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FBF1DD"/>
          </a:solidFill>
          <a:ln w="9525">
            <a:solidFill>
              <a:srgbClr val="E2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E28A12"/>
                </a:solidFill>
                <a:latin typeface="Consolas"/>
              </a:rPr>
              <a:t>+ / 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608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E"/>
                </a:solidFill>
                <a:latin typeface="Malgun Gothic"/>
              </a:rPr>
              <a:t>공전 속도 배율 조절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55664" y="5056632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FBF1DD"/>
          </a:solidFill>
          <a:ln w="9525">
            <a:solidFill>
              <a:srgbClr val="E2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E28A12"/>
                </a:solidFill>
                <a:latin typeface="Consolas"/>
              </a:rPr>
              <a:t>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511149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E"/>
                </a:solidFill>
                <a:latin typeface="Malgun Gothic"/>
              </a:rPr>
              <a:t>일시정지 / 재생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55664" y="5559552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FBF1DD"/>
          </a:solidFill>
          <a:ln w="9525">
            <a:solidFill>
              <a:srgbClr val="E2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E28A12"/>
                </a:solidFill>
                <a:latin typeface="Consolas"/>
              </a:rPr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561441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E"/>
                </a:solidFill>
                <a:latin typeface="Malgun Gothic"/>
              </a:rPr>
              <a:t>실제 ↔ 압축 비율 전환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E"/>
                </a:solidFill>
                <a:latin typeface="Consolas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Consolas"/>
              </a:rPr>
              <a:t>⑥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28A12"/>
                </a:solidFill>
                <a:latin typeface="Malgun Gothic"/>
              </a:rPr>
              <a:t>향후 개선점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492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48371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Malgun Gothic"/>
              </a:rPr>
              <a:t>✋ 어려웠던 점 — "비율의 딜레마"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4837176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6B728E"/>
                </a:solidFill>
                <a:latin typeface="Malgun Gothic"/>
              </a:rPr>
              <a:t>실제 비율로는 행성이 점처럼 보이고, 압축하면 정확하지 않습니다. 둘을 동시에 만족하는 단일 스케일은 없다고 판단해, 두 모드를 모두 구현해 사용자가 직접 비교하는 절충안을 택했습니다.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828800"/>
            <a:ext cx="53492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0116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Malgun Gothic"/>
              </a:rPr>
              <a:t>🚀 시간이 더 있다면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60604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B728E"/>
                </a:solidFill>
                <a:latin typeface="Malgun Gothic"/>
              </a:rPr>
              <a:t>•  노멀 매핑 — 행성 표면에 입체적인 굴곡 표현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38328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B728E"/>
                </a:solidFill>
                <a:latin typeface="Malgun Gothic"/>
              </a:rPr>
              <a:t>•  소행성대 파티클 — 화성·목성 사이를 더 풍부하게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16052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B728E"/>
                </a:solidFill>
                <a:latin typeface="Malgun Gothic"/>
              </a:rPr>
              <a:t>•  그림자 / 일식 — 점광원 기반 섀도우 매핑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493776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B728E"/>
                </a:solidFill>
                <a:latin typeface="Malgun Gothic"/>
              </a:rPr>
              <a:t>•  위성(달) 추가 — 행성 주위를 도는 계층적 공전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E"/>
                </a:solidFill>
                <a:latin typeface="Consolas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Consolas"/>
              </a:rPr>
              <a:t>⑦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28A12"/>
                </a:solidFill>
                <a:latin typeface="Malgun Gothic"/>
              </a:rPr>
              <a:t>스크린샷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291" y="1874519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19" y="1984247"/>
            <a:ext cx="3300984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5459" y="4407407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Malgun Gothic"/>
              </a:rPr>
              <a:t>① 메인화면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459" y="4773167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E"/>
                </a:solidFill>
                <a:latin typeface="Malgun Gothic"/>
              </a:rPr>
              <a:t>제목·설명과 '시작'/'조작 방법' 메뉴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1874519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355" y="1984247"/>
            <a:ext cx="3300984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36795" y="4407407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Malgun Gothic"/>
              </a:rPr>
              <a:t>② 천체 선택 + 추적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6795" y="4773167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E"/>
                </a:solidFill>
                <a:latin typeface="Malgun Gothic"/>
              </a:rPr>
              <a:t>토성 클릭 → 정보 패널·하이라이트 링·자동 추적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6963" y="1874519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_real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691" y="1984247"/>
            <a:ext cx="3300984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8131" y="4407407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Malgun Gothic"/>
              </a:rPr>
              <a:t>③ 실제 비율 모드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8131" y="4773167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E"/>
                </a:solidFill>
                <a:latin typeface="Malgun Gothic"/>
              </a:rPr>
              <a:t>R 키로 전환한 압도적인 실제 스케일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E"/>
                </a:solidFill>
                <a:latin typeface="Consolas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0"/>
                </a:solidFill>
                <a:latin typeface="Consolas"/>
              </a:rPr>
              <a:t>⑧ ASSET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28A12"/>
                </a:solidFill>
                <a:latin typeface="Malgun Gothic"/>
              </a:rPr>
              <a:t>에셋 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0879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10396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Malgun Gothic"/>
              </a:rPr>
              <a:t>행성 / 고리 텍스처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10396728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B728E"/>
                </a:solidFill>
                <a:latin typeface="Malgun Gothic"/>
              </a:rPr>
              <a:t>Solar System Scope (solarsystemscope.com/textures)의 NASA 이미지 기반 텍스처를, CC BY 4.0 (creativecommons.org/licenses/by/4.0) 라이선스에 따라 사용했습니다.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109087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114800"/>
            <a:ext cx="10396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6FE0"/>
                </a:solidFill>
                <a:latin typeface="Malgun Gothic"/>
              </a:rPr>
              <a:t>그 외 — 전부 직접 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526280"/>
            <a:ext cx="1039672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B728E"/>
                </a:solidFill>
                <a:latin typeface="Malgun Gothic"/>
              </a:rPr>
              <a:t>지오메트리 · 셰이더(GLSL) · UI(HTML/CSS) · 로직(JavaScript/WebGL2) 모두 직접 작성했으며, 외부 3D 모델·사운드·폰트 등의 추가 에셋은 사용하지 않았습니다.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6B728E"/>
                </a:solidFill>
                <a:latin typeface="Malgun Gothic"/>
              </a:rPr>
              <a:t>라이선스 전문은 프로젝트 폴더의 textures/LICENSE_NOTICE.txt 파일에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B728E"/>
                </a:solidFill>
                <a:latin typeface="Consolas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